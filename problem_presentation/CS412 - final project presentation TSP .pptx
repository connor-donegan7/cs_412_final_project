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1" r:id="rId6"/>
    <p:sldId id="260" r:id="rId7"/>
    <p:sldId id="266" r:id="rId8"/>
    <p:sldId id="262" r:id="rId9"/>
    <p:sldId id="263" r:id="rId10"/>
    <p:sldId id="270" r:id="rId11"/>
    <p:sldId id="265" r:id="rId12"/>
    <p:sldId id="272" r:id="rId13"/>
    <p:sldId id="264" r:id="rId14"/>
    <p:sldId id="267" r:id="rId15"/>
    <p:sldId id="268" r:id="rId16"/>
    <p:sldId id="269" r:id="rId17"/>
  </p:sldIdLst>
  <p:sldSz cx="9144000" cy="5143500" type="screen16x9"/>
  <p:notesSz cx="6858000" cy="9144000"/>
  <p:embeddedFontLst>
    <p:embeddedFont>
      <p:font typeface="Nunito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69"/>
    <p:restoredTop sz="87415" autoAdjust="0"/>
  </p:normalViewPr>
  <p:slideViewPr>
    <p:cSldViewPr snapToGrid="0">
      <p:cViewPr varScale="1">
        <p:scale>
          <a:sx n="128" d="100"/>
          <a:sy n="128" d="100"/>
        </p:scale>
        <p:origin x="1440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entone/max-clique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discourse.opengenus.org/t/greedy-approach-to-find-a-single-maximal-clique-in-o-v-2-time-complexity/3476" TargetMode="External"/><Relationship Id="rId4" Type="http://schemas.openxmlformats.org/officeDocument/2006/relationships/hyperlink" Target="https://www.youtube.com/watch?v=gjRcTH2p65c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d0ce07f81d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d0ce07f81d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Idea for exact solution (brute force): : </a:t>
            </a:r>
            <a:r>
              <a:rPr lang="en" sz="1300" u="sng" dirty="0">
                <a:solidFill>
                  <a:srgbClr val="3D4594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https://github.com/tentone/max-clique</a:t>
            </a:r>
            <a:endParaRPr sz="1300" dirty="0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Video explaining max clique: </a:t>
            </a:r>
            <a:r>
              <a:rPr lang="en" sz="1300" u="sng" dirty="0">
                <a:solidFill>
                  <a:srgbClr val="3D4594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https://www.youtube.com/watch?v=gjRcTH2p65c</a:t>
            </a:r>
            <a:endParaRPr sz="1300" dirty="0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Greedy: </a:t>
            </a:r>
            <a:r>
              <a:rPr lang="en" sz="1300" u="sng" dirty="0">
                <a:solidFill>
                  <a:srgbClr val="3D4594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https://discourse.opengenus.org/t/greedy-approach-to-find-a-single-maximal-clique-in-o-v-2-time-complexity/3476</a:t>
            </a:r>
            <a:r>
              <a:rPr lang="en" sz="1300" dirty="0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 dirty="0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d9e4ae6f31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d9e4ae6f31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d1a96ef081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d1a96ef081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325">
                <a:solidFill>
                  <a:srgbClr val="233A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more slide abour results</a:t>
            </a:r>
            <a:endParaRPr sz="1325">
              <a:solidFill>
                <a:srgbClr val="233A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325">
              <a:solidFill>
                <a:srgbClr val="233A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325">
                <a:solidFill>
                  <a:srgbClr val="233A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each one you need to show results for approximate and exact</a:t>
            </a:r>
            <a:endParaRPr sz="1325">
              <a:solidFill>
                <a:srgbClr val="233A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325">
                <a:solidFill>
                  <a:srgbClr val="233A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Show the size of the vertex cover?</a:t>
            </a:r>
            <a:endParaRPr sz="1325">
              <a:solidFill>
                <a:srgbClr val="233A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325">
              <a:solidFill>
                <a:srgbClr val="233A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325">
                <a:solidFill>
                  <a:srgbClr val="233A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Optimizationa and decision problem first</a:t>
            </a:r>
            <a:endParaRPr sz="1325">
              <a:solidFill>
                <a:srgbClr val="233A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325">
              <a:solidFill>
                <a:srgbClr val="233A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325">
                <a:solidFill>
                  <a:srgbClr val="233A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exact and and approximate solution</a:t>
            </a:r>
            <a:endParaRPr sz="1325">
              <a:solidFill>
                <a:srgbClr val="233A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325">
                <a:solidFill>
                  <a:srgbClr val="233A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campirson on runtime and results</a:t>
            </a:r>
            <a:endParaRPr sz="1325">
              <a:solidFill>
                <a:srgbClr val="233A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325">
              <a:solidFill>
                <a:srgbClr val="233A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325">
                <a:solidFill>
                  <a:srgbClr val="233A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test for approximate and exact make a graph from that on the differents and reuslts of hte test</a:t>
            </a:r>
            <a:endParaRPr sz="1325">
              <a:solidFill>
                <a:srgbClr val="233A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325">
                <a:solidFill>
                  <a:srgbClr val="233A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 differences between approxo and exact solution</a:t>
            </a:r>
            <a:endParaRPr sz="1325">
              <a:solidFill>
                <a:srgbClr val="233A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325">
              <a:solidFill>
                <a:srgbClr val="233A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25">
                <a:solidFill>
                  <a:srgbClr val="233A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the results.  Exact solution what is the optimal solution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ff5a1e678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ff5a1e678c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500"/>
              <a:buFont typeface="Calibri"/>
              <a:buChar char="●"/>
            </a:pPr>
            <a:r>
              <a:rPr lang="en" sz="1500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3-SAT to Max Clique, the runtime ratio is O(n^m), where n represents the size of the problem input and k, m are polynomial exponents associated with the respective algorithms.</a:t>
            </a:r>
            <a:endParaRPr sz="1500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300"/>
              <a:buFont typeface="Calibri"/>
              <a:buChar char="○"/>
            </a:pPr>
            <a:r>
              <a:rPr lang="en" sz="1300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N the number of the clauses in the 3 sat problem</a:t>
            </a:r>
            <a:endParaRPr sz="1300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300"/>
              <a:buFont typeface="Calibri"/>
              <a:buChar char="○"/>
            </a:pPr>
            <a:r>
              <a:rPr lang="en" sz="1300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m is an exponent that quantifies the relationship between the input size n and the computational effort (e.g., time or space complexity) required to perform the reduction from 3-SAT to Max Clique.</a:t>
            </a:r>
            <a:endParaRPr sz="1600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cefbb283a8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cefbb283a8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d0f509bcb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d0f509bcb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ff5a1e678c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ff5a1e678c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609D3486-ADFF-A1F0-F389-538F5BE35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cefbb283a8_0_141:notes">
            <a:extLst>
              <a:ext uri="{FF2B5EF4-FFF2-40B4-BE49-F238E27FC236}">
                <a16:creationId xmlns:a16="http://schemas.microsoft.com/office/drawing/2014/main" id="{B6731A3C-E435-F955-89A5-4950E67083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cefbb283a8_0_141:notes">
            <a:extLst>
              <a:ext uri="{FF2B5EF4-FFF2-40B4-BE49-F238E27FC236}">
                <a16:creationId xmlns:a16="http://schemas.microsoft.com/office/drawing/2014/main" id="{B438E041-0D8B-E3EE-1B57-2F11227123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32216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ff5a1e678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ff5a1e678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cefbb283a8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cefbb283a8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d9e4ae6f31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d9e4ae6f31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ff5a1e678c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ff5a1e678c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d9e4ae6f31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d9e4ae6f31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sa/traveling-salesman-problem-tsp-in-python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Final project: Traveling Salesman Problem (TSP)</a:t>
            </a:r>
            <a:endParaRPr dirty="0"/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1858700" y="3070371"/>
            <a:ext cx="5361300" cy="8653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Names: Connor Donegan and Cole Strubhar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Fall 2025, CS412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/>
              <a:t>Traveling Salesman Problem - Problem Description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5C965-03D7-1262-3901-BC37CC1050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9872" y="1990725"/>
            <a:ext cx="3742944" cy="2448000"/>
          </a:xfrm>
        </p:spPr>
        <p:txBody>
          <a:bodyPr/>
          <a:lstStyle/>
          <a:p>
            <a:r>
              <a:rPr lang="en-US" dirty="0"/>
              <a:t>Given an undirected graph G = (V, E) with edge weights c(</a:t>
            </a:r>
            <a:r>
              <a:rPr lang="en-US" dirty="0" err="1"/>
              <a:t>u,v</a:t>
            </a:r>
            <a:r>
              <a:rPr lang="en-US" dirty="0"/>
              <a:t>) &gt; 0</a:t>
            </a:r>
          </a:p>
          <a:p>
            <a:r>
              <a:rPr lang="en-US" dirty="0"/>
              <a:t>Find a tour: a simple cycle that visits every vertex exactly once</a:t>
            </a:r>
          </a:p>
          <a:p>
            <a:r>
              <a:rPr lang="en-US" dirty="0"/>
              <a:t>Goal: Minimize the total sum of edge weights in the tour</a:t>
            </a:r>
          </a:p>
          <a:p>
            <a:r>
              <a:rPr lang="en-US" dirty="0"/>
              <a:t>Also called a Hamiltonian cycle with minimum cost</a:t>
            </a:r>
          </a:p>
          <a:p>
            <a:endParaRPr lang="en-US" dirty="0"/>
          </a:p>
        </p:txBody>
      </p:sp>
      <p:pic>
        <p:nvPicPr>
          <p:cNvPr id="1028" name="Picture 4" descr="Traveling salesman problem - Cornell ...">
            <a:extLst>
              <a:ext uri="{FF2B5EF4-FFF2-40B4-BE49-F238E27FC236}">
                <a16:creationId xmlns:a16="http://schemas.microsoft.com/office/drawing/2014/main" id="{B7901943-9C27-2E2D-8C5C-61AAD9A6E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800200"/>
            <a:ext cx="3337803" cy="2201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TSP - Decision/Optimization Problem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2C6F7B-EC37-AF5E-3FF6-6A96403D31E2}"/>
              </a:ext>
            </a:extLst>
          </p:cNvPr>
          <p:cNvSpPr txBox="1"/>
          <p:nvPr/>
        </p:nvSpPr>
        <p:spPr>
          <a:xfrm>
            <a:off x="932089" y="2051131"/>
            <a:ext cx="727982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Optimization problem: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Input: Graph G = (V, E) with edge weights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Output: The minimum-cost tour visiting all vertices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 Minimize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Σ(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edge weights in tour)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problem: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Input: Graph G, integer k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Output: YES if there exists a tour with total cost ≤ k, NO otherwise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>
            <a:spLocks noGrp="1"/>
          </p:cNvSpPr>
          <p:nvPr>
            <p:ph type="title"/>
          </p:nvPr>
        </p:nvSpPr>
        <p:spPr>
          <a:xfrm>
            <a:off x="819150" y="6851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TSP - Use and Importance Examples</a:t>
            </a:r>
            <a:endParaRPr dirty="0"/>
          </a:p>
        </p:txBody>
      </p:sp>
      <p:sp>
        <p:nvSpPr>
          <p:cNvPr id="148" name="Google Shape;148;p16"/>
          <p:cNvSpPr txBox="1">
            <a:spLocks noGrp="1"/>
          </p:cNvSpPr>
          <p:nvPr>
            <p:ph type="body" idx="1"/>
          </p:nvPr>
        </p:nvSpPr>
        <p:spPr>
          <a:xfrm>
            <a:off x="819149" y="1325600"/>
            <a:ext cx="7200725" cy="3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indent="0">
              <a:buNone/>
            </a:pPr>
            <a:r>
              <a:rPr lang="en-US" sz="1600" b="1" dirty="0"/>
              <a:t>Why is TSP Practical and Important?</a:t>
            </a:r>
            <a:endParaRPr lang="en-US" sz="1600" dirty="0"/>
          </a:p>
          <a:p>
            <a:pPr marL="146050" indent="0">
              <a:buNone/>
            </a:pPr>
            <a:r>
              <a:rPr lang="en-US" sz="1600" b="1" dirty="0"/>
              <a:t>Real-world Applications:</a:t>
            </a:r>
            <a:endParaRPr lang="en-US" sz="1600" dirty="0"/>
          </a:p>
          <a:p>
            <a:r>
              <a:rPr lang="en-US" sz="1600" b="1" dirty="0"/>
              <a:t>Logistics:</a:t>
            </a:r>
            <a:r>
              <a:rPr lang="en-US" sz="1600" dirty="0"/>
              <a:t> Delivery route optimization (UPS, FedEx, Amazon)</a:t>
            </a:r>
          </a:p>
          <a:p>
            <a:r>
              <a:rPr lang="en-US" sz="1600" b="1" dirty="0"/>
              <a:t>Manufacturing:</a:t>
            </a:r>
            <a:r>
              <a:rPr lang="en-US" sz="1600" dirty="0"/>
              <a:t> Drill path optimization on circuit boards</a:t>
            </a:r>
          </a:p>
          <a:p>
            <a:r>
              <a:rPr lang="en-US" sz="1600" b="1" dirty="0"/>
              <a:t>Robotics:</a:t>
            </a:r>
            <a:r>
              <a:rPr lang="en-US" sz="1600" dirty="0"/>
              <a:t> Path planning for warehouse robots</a:t>
            </a:r>
          </a:p>
          <a:p>
            <a:pPr marL="146050" indent="0">
              <a:buNone/>
            </a:pPr>
            <a:r>
              <a:rPr lang="en-US" sz="1600" b="1" dirty="0"/>
              <a:t>Impact:</a:t>
            </a:r>
            <a:r>
              <a:rPr lang="en-US" sz="1600" dirty="0"/>
              <a:t> Even small improvements (1-2%) save millions in fuel costs and time for companies</a:t>
            </a:r>
          </a:p>
          <a:p>
            <a:pPr marL="13811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5"/>
              <a:buNone/>
            </a:pPr>
            <a:endParaRPr sz="1425" dirty="0">
              <a:latin typeface="+mj-lt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5EE09-C087-D3A0-05B9-5CC7594E0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TSP is in NP - Certificate Verification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D79E0-4DF6-39CD-9B61-9BB87C003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en-US" b="1" dirty="0"/>
              <a:t>Certificate:</a:t>
            </a:r>
            <a:r>
              <a:rPr lang="en-US" dirty="0"/>
              <a:t> A tour (sequence of vertices)</a:t>
            </a:r>
          </a:p>
          <a:p>
            <a:pPr marL="146050" indent="0">
              <a:buNone/>
            </a:pPr>
            <a:r>
              <a:rPr lang="en-US" b="1" dirty="0"/>
              <a:t>Verification Algorithm (Polynomial Time):</a:t>
            </a:r>
            <a:endParaRPr lang="en-US" dirty="0"/>
          </a:p>
          <a:p>
            <a:r>
              <a:rPr lang="en-US" dirty="0"/>
              <a:t>Check tour visits each vertex exactly once - O(n)</a:t>
            </a:r>
          </a:p>
          <a:p>
            <a:r>
              <a:rPr lang="en-US" dirty="0"/>
              <a:t>Check tour forms a valid cycle - O(n)</a:t>
            </a:r>
          </a:p>
          <a:p>
            <a:r>
              <a:rPr lang="en-US" dirty="0"/>
              <a:t>Calculate total edge weights - O(n)</a:t>
            </a:r>
          </a:p>
          <a:p>
            <a:r>
              <a:rPr lang="en-US" dirty="0"/>
              <a:t>Verify total ≤ k - O(1)</a:t>
            </a:r>
          </a:p>
          <a:p>
            <a:pPr marL="146050" indent="0">
              <a:buNone/>
            </a:pPr>
            <a:r>
              <a:rPr lang="en-US" b="1" dirty="0"/>
              <a:t>Total: O(n) - Polynomial</a:t>
            </a:r>
            <a:endParaRPr lang="en-US" dirty="0"/>
          </a:p>
          <a:p>
            <a:pPr marL="146050" indent="0">
              <a:buNone/>
            </a:pPr>
            <a:r>
              <a:rPr lang="en-US" dirty="0"/>
              <a:t>Therefore TSP ∈ NP (can verify solutions quickly)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460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NP Reduction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D5B64-F001-1C87-1E05-54CA943F1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46050" indent="0">
              <a:buNone/>
            </a:pPr>
            <a:r>
              <a:rPr lang="en-US" b="1" dirty="0"/>
              <a:t>Proof Strategy:</a:t>
            </a:r>
            <a:endParaRPr lang="en-US" dirty="0"/>
          </a:p>
          <a:p>
            <a:r>
              <a:rPr lang="en-US" dirty="0"/>
              <a:t>Hamiltonian Cycle ≤p TSP</a:t>
            </a:r>
          </a:p>
          <a:p>
            <a:r>
              <a:rPr lang="en-US" dirty="0"/>
              <a:t>If we can solve TSP, we can solve Hamiltonian Cycle</a:t>
            </a:r>
          </a:p>
          <a:p>
            <a:pPr marL="146050" indent="0">
              <a:buNone/>
            </a:pPr>
            <a:r>
              <a:rPr lang="en-US" b="1" dirty="0"/>
              <a:t>Reduction:</a:t>
            </a:r>
            <a:endParaRPr lang="en-US" dirty="0"/>
          </a:p>
          <a:p>
            <a:r>
              <a:rPr lang="en-US" dirty="0"/>
              <a:t>Given graph G for Hamiltonian Cycle problem</a:t>
            </a:r>
          </a:p>
          <a:p>
            <a:r>
              <a:rPr lang="en-US" dirty="0"/>
              <a:t>Create weighted graph G' where: </a:t>
            </a:r>
          </a:p>
          <a:p>
            <a:pPr lvl="1"/>
            <a:r>
              <a:rPr lang="en-US" dirty="0"/>
              <a:t>If edge exists in G: weight = 1</a:t>
            </a:r>
          </a:p>
          <a:p>
            <a:pPr lvl="1"/>
            <a:r>
              <a:rPr lang="en-US" dirty="0"/>
              <a:t>If edge doesn't exist in G: weight = 2</a:t>
            </a:r>
          </a:p>
          <a:p>
            <a:pPr lvl="1"/>
            <a:r>
              <a:rPr lang="en-US" dirty="0"/>
              <a:t>Set k = n (number of vertices)</a:t>
            </a:r>
          </a:p>
          <a:p>
            <a:r>
              <a:rPr lang="en-US" dirty="0"/>
              <a:t>G has Hamiltonian cycle ⟺ G' has TSP tour with cost ≤ n</a:t>
            </a:r>
          </a:p>
          <a:p>
            <a:pPr marL="146050" indent="0">
              <a:buNone/>
            </a:pPr>
            <a:r>
              <a:rPr lang="en-US" b="1" dirty="0"/>
              <a:t>Conclusion:</a:t>
            </a:r>
            <a:r>
              <a:rPr lang="en-US" dirty="0"/>
              <a:t> TSP is NP-Complete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>
            <a:spLocks noGrp="1"/>
          </p:cNvSpPr>
          <p:nvPr>
            <p:ph type="title"/>
          </p:nvPr>
        </p:nvSpPr>
        <p:spPr>
          <a:xfrm>
            <a:off x="819150" y="386375"/>
            <a:ext cx="7505700" cy="65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 Inputs/Outputs 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AD32B5-966C-F4F4-D619-113C16E7E115}"/>
              </a:ext>
            </a:extLst>
          </p:cNvPr>
          <p:cNvSpPr txBox="1"/>
          <p:nvPr/>
        </p:nvSpPr>
        <p:spPr>
          <a:xfrm>
            <a:off x="670561" y="1414272"/>
            <a:ext cx="34625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Input:</a:t>
            </a:r>
          </a:p>
          <a:p>
            <a:r>
              <a:rPr lang="en-US" dirty="0"/>
              <a:t>3 3</a:t>
            </a:r>
          </a:p>
          <a:p>
            <a:r>
              <a:rPr lang="en-US" dirty="0"/>
              <a:t>A B 1</a:t>
            </a:r>
          </a:p>
          <a:p>
            <a:r>
              <a:rPr lang="en-US" dirty="0"/>
              <a:t>B C 1  </a:t>
            </a:r>
          </a:p>
          <a:p>
            <a:r>
              <a:rPr lang="en-US" dirty="0"/>
              <a:t>A C 1</a:t>
            </a:r>
          </a:p>
          <a:p>
            <a:endParaRPr lang="en-US" dirty="0"/>
          </a:p>
          <a:p>
            <a:r>
              <a:rPr lang="en-US" dirty="0"/>
              <a:t>Output:</a:t>
            </a:r>
          </a:p>
          <a:p>
            <a:r>
              <a:rPr lang="en-US" dirty="0"/>
              <a:t>Tour: A → B → C → A</a:t>
            </a:r>
          </a:p>
          <a:p>
            <a:r>
              <a:rPr lang="en-US" dirty="0"/>
              <a:t>Cost: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6FC1D4-8F9F-D107-CC31-576A1B1EDC6F}"/>
              </a:ext>
            </a:extLst>
          </p:cNvPr>
          <p:cNvSpPr txBox="1"/>
          <p:nvPr/>
        </p:nvSpPr>
        <p:spPr>
          <a:xfrm>
            <a:off x="5010912" y="1414272"/>
            <a:ext cx="3657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Input:</a:t>
            </a:r>
          </a:p>
          <a:p>
            <a:r>
              <a:rPr lang="en-US" dirty="0"/>
              <a:t>4 6</a:t>
            </a:r>
          </a:p>
          <a:p>
            <a:r>
              <a:rPr lang="en-US" dirty="0"/>
              <a:t>A B 1</a:t>
            </a:r>
          </a:p>
          <a:p>
            <a:r>
              <a:rPr lang="en-US" dirty="0"/>
              <a:t>B C 1</a:t>
            </a:r>
          </a:p>
          <a:p>
            <a:r>
              <a:rPr lang="en-US" dirty="0"/>
              <a:t>C D 1</a:t>
            </a:r>
          </a:p>
          <a:p>
            <a:r>
              <a:rPr lang="en-US" dirty="0"/>
              <a:t>D A 1</a:t>
            </a:r>
          </a:p>
          <a:p>
            <a:r>
              <a:rPr lang="en-US" dirty="0"/>
              <a:t>A C 10</a:t>
            </a:r>
          </a:p>
          <a:p>
            <a:r>
              <a:rPr lang="en-US" dirty="0"/>
              <a:t>B D 10</a:t>
            </a:r>
          </a:p>
          <a:p>
            <a:endParaRPr lang="en-US" dirty="0"/>
          </a:p>
          <a:p>
            <a:r>
              <a:rPr lang="en-US" dirty="0"/>
              <a:t>Output:</a:t>
            </a:r>
          </a:p>
          <a:p>
            <a:r>
              <a:rPr lang="en-US" dirty="0"/>
              <a:t>Tour: A → B → C → D → A</a:t>
            </a:r>
          </a:p>
          <a:p>
            <a:r>
              <a:rPr lang="en-US" dirty="0"/>
              <a:t>Cost: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>
            <a:spLocks noGrp="1"/>
          </p:cNvSpPr>
          <p:nvPr>
            <p:ph type="title"/>
          </p:nvPr>
        </p:nvSpPr>
        <p:spPr>
          <a:xfrm>
            <a:off x="819150" y="52167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Exact Code Solution  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766ECF-00F1-4A23-538E-52E0BDD4A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en-US" b="1" dirty="0">
                <a:solidFill>
                  <a:srgbClr val="273540"/>
                </a:solidFill>
                <a:latin typeface="Lato Extended"/>
              </a:rPr>
              <a:t>Algorithm Type:</a:t>
            </a:r>
          </a:p>
          <a:p>
            <a:r>
              <a:rPr lang="en-US" b="1" dirty="0">
                <a:solidFill>
                  <a:srgbClr val="273540"/>
                </a:solidFill>
                <a:latin typeface="Lato Extended"/>
              </a:rPr>
              <a:t>Greedy</a:t>
            </a:r>
            <a:r>
              <a:rPr lang="en-US" dirty="0">
                <a:solidFill>
                  <a:srgbClr val="273540"/>
                </a:solidFill>
                <a:latin typeface="Lato Extended"/>
              </a:rPr>
              <a:t>: Check every possible variation of travel for the ”best” result.</a:t>
            </a:r>
          </a:p>
          <a:p>
            <a:r>
              <a:rPr lang="en-US" b="1" dirty="0">
                <a:solidFill>
                  <a:srgbClr val="273540"/>
                </a:solidFill>
                <a:latin typeface="Lato Extended"/>
              </a:rPr>
              <a:t>Anytime</a:t>
            </a:r>
            <a:r>
              <a:rPr lang="en-US" dirty="0">
                <a:solidFill>
                  <a:srgbClr val="273540"/>
                </a:solidFill>
                <a:latin typeface="Lato Extended"/>
              </a:rPr>
              <a:t>: Produces optimal tour regardless of starting node.</a:t>
            </a:r>
          </a:p>
          <a:p>
            <a:r>
              <a:rPr lang="en-US" b="1" dirty="0">
                <a:solidFill>
                  <a:srgbClr val="273540"/>
                </a:solidFill>
                <a:latin typeface="Lato Extended"/>
              </a:rPr>
              <a:t>Non-deterministic</a:t>
            </a:r>
            <a:r>
              <a:rPr lang="en-US" dirty="0">
                <a:solidFill>
                  <a:srgbClr val="273540"/>
                </a:solidFill>
                <a:latin typeface="Lato Extended"/>
              </a:rPr>
              <a:t>: Will always produce an optimal tour, but may differ if multiple paths have the same cost.</a:t>
            </a:r>
          </a:p>
          <a:p>
            <a:endParaRPr lang="en-US" dirty="0">
              <a:solidFill>
                <a:srgbClr val="273540"/>
              </a:solidFill>
              <a:latin typeface="Lato Extended"/>
            </a:endParaRPr>
          </a:p>
          <a:p>
            <a:endParaRPr lang="en-US" dirty="0">
              <a:solidFill>
                <a:srgbClr val="273540"/>
              </a:solidFill>
              <a:latin typeface="Lato Extended"/>
            </a:endParaRPr>
          </a:p>
          <a:p>
            <a:r>
              <a:rPr lang="en-US" b="1" dirty="0"/>
              <a:t>Run Time: O(n!)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>
            <a:spLocks noGrp="1"/>
          </p:cNvSpPr>
          <p:nvPr>
            <p:ph type="title"/>
          </p:nvPr>
        </p:nvSpPr>
        <p:spPr>
          <a:xfrm>
            <a:off x="819150" y="419850"/>
            <a:ext cx="7505700" cy="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Exact Code Solution - Pseudocode 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D1B27A-DAE1-A21F-44BE-8EA843A9EF6B}"/>
              </a:ext>
            </a:extLst>
          </p:cNvPr>
          <p:cNvSpPr txBox="1"/>
          <p:nvPr/>
        </p:nvSpPr>
        <p:spPr>
          <a:xfrm>
            <a:off x="762000" y="1313793"/>
            <a:ext cx="5798382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while !empty(stack):</a:t>
            </a:r>
          </a:p>
          <a:p>
            <a:r>
              <a:rPr lang="en-US" dirty="0"/>
              <a:t>	node = </a:t>
            </a:r>
            <a:r>
              <a:rPr lang="en-US" dirty="0" err="1"/>
              <a:t>stack.pop</a:t>
            </a:r>
            <a:r>
              <a:rPr lang="en-US" dirty="0"/>
              <a:t>()</a:t>
            </a:r>
          </a:p>
          <a:p>
            <a:r>
              <a:rPr lang="en-US" dirty="0"/>
              <a:t>	</a:t>
            </a:r>
            <a:r>
              <a:rPr lang="en-US" dirty="0" err="1"/>
              <a:t>path.append</a:t>
            </a:r>
            <a:r>
              <a:rPr lang="en-US" dirty="0"/>
              <a:t>(node)</a:t>
            </a:r>
          </a:p>
          <a:p>
            <a:endParaRPr lang="en-US" dirty="0"/>
          </a:p>
          <a:p>
            <a:r>
              <a:rPr lang="en-US" dirty="0"/>
              <a:t>	if </a:t>
            </a:r>
            <a:r>
              <a:rPr lang="en-US" dirty="0" err="1"/>
              <a:t>start_node</a:t>
            </a:r>
            <a:r>
              <a:rPr lang="en-US" dirty="0"/>
              <a:t>(node):</a:t>
            </a:r>
          </a:p>
          <a:p>
            <a:r>
              <a:rPr lang="en-US" dirty="0"/>
              <a:t>		if shortest(path):</a:t>
            </a:r>
          </a:p>
          <a:p>
            <a:r>
              <a:rPr lang="en-US" dirty="0"/>
              <a:t>			</a:t>
            </a:r>
            <a:r>
              <a:rPr lang="en-US" dirty="0" err="1"/>
              <a:t>shortest_path</a:t>
            </a:r>
            <a:r>
              <a:rPr lang="en-US" dirty="0"/>
              <a:t> = path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for (edges):</a:t>
            </a:r>
          </a:p>
          <a:p>
            <a:r>
              <a:rPr lang="en-US" dirty="0"/>
              <a:t>		if !</a:t>
            </a:r>
            <a:r>
              <a:rPr lang="en-US" dirty="0" err="1"/>
              <a:t>edge_traveled</a:t>
            </a:r>
            <a:r>
              <a:rPr lang="en-US" dirty="0"/>
              <a:t>(edge): // </a:t>
            </a:r>
            <a:r>
              <a:rPr lang="en-US" dirty="0" err="1"/>
              <a:t>Memozation</a:t>
            </a:r>
            <a:r>
              <a:rPr lang="en-US" dirty="0"/>
              <a:t> required!</a:t>
            </a:r>
          </a:p>
          <a:p>
            <a:r>
              <a:rPr lang="en-US" dirty="0"/>
              <a:t>			</a:t>
            </a:r>
            <a:r>
              <a:rPr lang="en-US" dirty="0" err="1"/>
              <a:t>stack.append</a:t>
            </a:r>
            <a:r>
              <a:rPr lang="en-US" dirty="0"/>
              <a:t>(</a:t>
            </a:r>
            <a:r>
              <a:rPr lang="en-US" dirty="0" err="1"/>
              <a:t>dest_node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return </a:t>
            </a:r>
            <a:r>
              <a:rPr lang="en-US" dirty="0" err="1"/>
              <a:t>shortest_path</a:t>
            </a:r>
            <a:endParaRPr lang="en-US" dirty="0"/>
          </a:p>
          <a:p>
            <a:r>
              <a:rPr lang="en-US" dirty="0"/>
              <a:t>		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A81C4B-C2DB-A916-4F6E-69456403D1B5}"/>
              </a:ext>
            </a:extLst>
          </p:cNvPr>
          <p:cNvSpPr txBox="1"/>
          <p:nvPr/>
        </p:nvSpPr>
        <p:spPr>
          <a:xfrm>
            <a:off x="6138041" y="1108841"/>
            <a:ext cx="267893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Runtime Analysis</a:t>
            </a:r>
          </a:p>
          <a:p>
            <a:endParaRPr lang="en-US" dirty="0"/>
          </a:p>
          <a:p>
            <a:r>
              <a:rPr lang="en-US" dirty="0"/>
              <a:t>Work done within while:</a:t>
            </a:r>
          </a:p>
          <a:p>
            <a:r>
              <a:rPr lang="en-US" dirty="0"/>
              <a:t>	v E n iterations</a:t>
            </a:r>
          </a:p>
          <a:p>
            <a:r>
              <a:rPr lang="en-US" dirty="0"/>
              <a:t>Work addressed by while:</a:t>
            </a:r>
          </a:p>
          <a:p>
            <a:r>
              <a:rPr lang="en-US" dirty="0"/>
              <a:t>	n * (n - 1) * (n - 2)…</a:t>
            </a:r>
          </a:p>
          <a:p>
            <a:endParaRPr lang="en-US" dirty="0"/>
          </a:p>
          <a:p>
            <a:r>
              <a:rPr lang="en-US" dirty="0"/>
              <a:t>Combined:</a:t>
            </a:r>
          </a:p>
          <a:p>
            <a:r>
              <a:rPr lang="en-US" dirty="0"/>
              <a:t>	(n^2)!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>
          <a:extLst>
            <a:ext uri="{FF2B5EF4-FFF2-40B4-BE49-F238E27FC236}">
              <a16:creationId xmlns:a16="http://schemas.microsoft.com/office/drawing/2014/main" id="{A0491A6B-9424-E8EF-1225-4CF93334A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>
            <a:extLst>
              <a:ext uri="{FF2B5EF4-FFF2-40B4-BE49-F238E27FC236}">
                <a16:creationId xmlns:a16="http://schemas.microsoft.com/office/drawing/2014/main" id="{24C9F4C7-2892-6FAD-96C7-EAF1184879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9150" y="445550"/>
            <a:ext cx="7505700" cy="6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Approximation Strategy: Greedy Nearest-Neighbor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17F28D-68D9-6CE6-40D3-50A7FB157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2038" y="1643100"/>
            <a:ext cx="7505700" cy="2448000"/>
          </a:xfrm>
        </p:spPr>
        <p:txBody>
          <a:bodyPr>
            <a:normAutofit fontScale="92500" lnSpcReduction="10000"/>
          </a:bodyPr>
          <a:lstStyle/>
          <a:p>
            <a:pPr marL="146050" indent="0">
              <a:buNone/>
            </a:pPr>
            <a:r>
              <a:rPr lang="en-US" b="1" dirty="0"/>
              <a:t>Algorithm Type:</a:t>
            </a:r>
            <a:endParaRPr lang="en-US" dirty="0"/>
          </a:p>
          <a:p>
            <a:r>
              <a:rPr lang="en-US" b="1" dirty="0"/>
              <a:t>Greedy:</a:t>
            </a:r>
            <a:r>
              <a:rPr lang="en-US" dirty="0"/>
              <a:t> Makes locally optimal choice at each step</a:t>
            </a:r>
          </a:p>
          <a:p>
            <a:r>
              <a:rPr lang="en-US" b="1" dirty="0"/>
              <a:t>Anytime:</a:t>
            </a:r>
            <a:r>
              <a:rPr lang="en-US" dirty="0"/>
              <a:t> Produces valid tour at any point</a:t>
            </a:r>
          </a:p>
          <a:p>
            <a:r>
              <a:rPr lang="en-US" b="1" dirty="0"/>
              <a:t>Deterministic:</a:t>
            </a:r>
            <a:r>
              <a:rPr lang="en-US" dirty="0"/>
              <a:t> Same graph → same result</a:t>
            </a:r>
          </a:p>
          <a:p>
            <a:pPr marL="146050" indent="0">
              <a:buNone/>
            </a:pPr>
            <a:r>
              <a:rPr lang="en-US" b="1" dirty="0"/>
              <a:t>How It Works:</a:t>
            </a:r>
            <a:endParaRPr lang="en-US" dirty="0"/>
          </a:p>
          <a:p>
            <a:r>
              <a:rPr lang="en-US" dirty="0"/>
              <a:t>Start at arbitrary node</a:t>
            </a:r>
          </a:p>
          <a:p>
            <a:r>
              <a:rPr lang="en-US" dirty="0"/>
              <a:t>Repeat until all visited: </a:t>
            </a:r>
          </a:p>
          <a:p>
            <a:pPr lvl="1"/>
            <a:r>
              <a:rPr lang="en-US" dirty="0"/>
              <a:t>Find nearest unvisited neighbor</a:t>
            </a:r>
          </a:p>
          <a:p>
            <a:pPr lvl="1"/>
            <a:r>
              <a:rPr lang="en-US" dirty="0"/>
              <a:t>Move to that neighbor</a:t>
            </a:r>
          </a:p>
          <a:p>
            <a:pPr lvl="1"/>
            <a:r>
              <a:rPr lang="en-US" dirty="0"/>
              <a:t>Mark as visited</a:t>
            </a:r>
          </a:p>
          <a:p>
            <a:r>
              <a:rPr lang="en-US" dirty="0"/>
              <a:t>Return to start node</a:t>
            </a:r>
          </a:p>
          <a:p>
            <a:pPr marL="146050" indent="0">
              <a:buNone/>
            </a:pPr>
            <a:r>
              <a:rPr lang="en-US" b="1" dirty="0"/>
              <a:t>Runtime:</a:t>
            </a:r>
            <a:r>
              <a:rPr lang="en-US" dirty="0"/>
              <a:t> O(n²) - Polynomial time guaranteed</a:t>
            </a:r>
          </a:p>
        </p:txBody>
      </p:sp>
    </p:spTree>
    <p:extLst>
      <p:ext uri="{BB962C8B-B14F-4D97-AF65-F5344CB8AC3E}">
        <p14:creationId xmlns:p14="http://schemas.microsoft.com/office/powerpoint/2010/main" val="463405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>
            <a:spLocks noGrp="1"/>
          </p:cNvSpPr>
          <p:nvPr>
            <p:ph type="title"/>
          </p:nvPr>
        </p:nvSpPr>
        <p:spPr>
          <a:xfrm>
            <a:off x="819150" y="420375"/>
            <a:ext cx="7505700" cy="6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Greedy Nearest-Neighbor Pseudocode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D86A7-2DDB-0030-A55A-E8C2C4BF8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13248" y="1708012"/>
            <a:ext cx="2667762" cy="2448000"/>
          </a:xfrm>
        </p:spPr>
        <p:txBody>
          <a:bodyPr/>
          <a:lstStyle/>
          <a:p>
            <a:pPr marL="146050" indent="0">
              <a:buNone/>
            </a:pPr>
            <a:r>
              <a:rPr lang="en-US" b="1" dirty="0"/>
              <a:t>Time Complexity Analysis:</a:t>
            </a:r>
            <a:endParaRPr lang="en-US" dirty="0"/>
          </a:p>
          <a:p>
            <a:r>
              <a:rPr lang="en-US" dirty="0"/>
              <a:t>Main loop: n-1 iterations</a:t>
            </a:r>
          </a:p>
          <a:p>
            <a:r>
              <a:rPr lang="en-US" dirty="0"/>
              <a:t>Finding nearest: O(n) per iteration</a:t>
            </a:r>
          </a:p>
          <a:p>
            <a:r>
              <a:rPr lang="en-US" b="1" dirty="0"/>
              <a:t>Total: O(n²)</a:t>
            </a:r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9752C3-4A18-F0B0-52F2-220414DBA4EC}"/>
              </a:ext>
            </a:extLst>
          </p:cNvPr>
          <p:cNvSpPr txBox="1"/>
          <p:nvPr/>
        </p:nvSpPr>
        <p:spPr>
          <a:xfrm>
            <a:off x="636270" y="1054575"/>
            <a:ext cx="366750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 </a:t>
            </a:r>
            <a:r>
              <a:rPr lang="en-US" dirty="0" err="1"/>
              <a:t>GreedyNearestNeighbor</a:t>
            </a:r>
            <a:r>
              <a:rPr lang="en-US" dirty="0"/>
              <a:t>(graph, </a:t>
            </a:r>
            <a:r>
              <a:rPr lang="en-US" dirty="0" err="1"/>
              <a:t>start_node</a:t>
            </a:r>
            <a:r>
              <a:rPr lang="en-US" dirty="0"/>
              <a:t>):</a:t>
            </a:r>
          </a:p>
          <a:p>
            <a:r>
              <a:rPr lang="en-US" dirty="0"/>
              <a:t>    visited ← {</a:t>
            </a:r>
            <a:r>
              <a:rPr lang="en-US" dirty="0" err="1"/>
              <a:t>start_node</a:t>
            </a:r>
            <a:r>
              <a:rPr lang="en-US" dirty="0"/>
              <a:t>}</a:t>
            </a:r>
          </a:p>
          <a:p>
            <a:r>
              <a:rPr lang="en-US" dirty="0"/>
              <a:t>    tour ← [</a:t>
            </a:r>
            <a:r>
              <a:rPr lang="en-US" dirty="0" err="1"/>
              <a:t>start_node</a:t>
            </a:r>
            <a:r>
              <a:rPr lang="en-US" dirty="0"/>
              <a:t>]</a:t>
            </a:r>
          </a:p>
          <a:p>
            <a:r>
              <a:rPr lang="en-US" dirty="0"/>
              <a:t>    current ← </a:t>
            </a:r>
            <a:r>
              <a:rPr lang="en-US" dirty="0" err="1"/>
              <a:t>start_node</a:t>
            </a:r>
            <a:endParaRPr lang="en-US" dirty="0"/>
          </a:p>
          <a:p>
            <a:r>
              <a:rPr lang="en-US" dirty="0"/>
              <a:t>    </a:t>
            </a:r>
          </a:p>
          <a:p>
            <a:r>
              <a:rPr lang="en-US" dirty="0"/>
              <a:t>    while |visited| &lt; n:</a:t>
            </a:r>
          </a:p>
          <a:p>
            <a:r>
              <a:rPr lang="en-US" dirty="0"/>
              <a:t>        unvisited ← all nodes - visited</a:t>
            </a:r>
          </a:p>
          <a:p>
            <a:r>
              <a:rPr lang="en-US" dirty="0"/>
              <a:t>        nearest ← </a:t>
            </a:r>
            <a:r>
              <a:rPr lang="en-US" dirty="0" err="1"/>
              <a:t>argmin</a:t>
            </a:r>
            <a:r>
              <a:rPr lang="en-US" dirty="0"/>
              <a:t>{distance(current, node) </a:t>
            </a:r>
          </a:p>
          <a:p>
            <a:r>
              <a:rPr lang="en-US" dirty="0"/>
              <a:t>                        for node in unvisited}</a:t>
            </a:r>
          </a:p>
          <a:p>
            <a:r>
              <a:rPr lang="en-US" dirty="0"/>
              <a:t>        </a:t>
            </a:r>
            <a:r>
              <a:rPr lang="en-US" dirty="0" err="1"/>
              <a:t>tour.append</a:t>
            </a:r>
            <a:r>
              <a:rPr lang="en-US" dirty="0"/>
              <a:t>(nearest)</a:t>
            </a:r>
          </a:p>
          <a:p>
            <a:r>
              <a:rPr lang="en-US" dirty="0"/>
              <a:t>        </a:t>
            </a:r>
            <a:r>
              <a:rPr lang="en-US" dirty="0" err="1"/>
              <a:t>visited.add</a:t>
            </a:r>
            <a:r>
              <a:rPr lang="en-US" dirty="0"/>
              <a:t>(nearest)</a:t>
            </a:r>
          </a:p>
          <a:p>
            <a:r>
              <a:rPr lang="en-US" dirty="0"/>
              <a:t>        current ← nearest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</a:t>
            </a:r>
            <a:r>
              <a:rPr lang="en-US" dirty="0" err="1"/>
              <a:t>tour.append</a:t>
            </a:r>
            <a:r>
              <a:rPr lang="en-US" dirty="0"/>
              <a:t>(</a:t>
            </a:r>
            <a:r>
              <a:rPr lang="en-US" dirty="0" err="1"/>
              <a:t>start_node</a:t>
            </a:r>
            <a:r>
              <a:rPr lang="en-US" dirty="0"/>
              <a:t>)  // return to start</a:t>
            </a:r>
          </a:p>
          <a:p>
            <a:r>
              <a:rPr lang="en-US" dirty="0"/>
              <a:t>    return tour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FEBD1-3035-5BDD-FE59-2CBEEEB36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50" y="704775"/>
            <a:ext cx="7505700" cy="954600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Instance Where Approximation ≠ Optimal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0B04E-3CC9-32E3-405F-E3E517F5F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188" y="1737354"/>
            <a:ext cx="4242217" cy="2557728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b="1" dirty="0"/>
              <a:t>Edges:</a:t>
            </a:r>
            <a:endParaRPr lang="en-US" dirty="0"/>
          </a:p>
          <a:p>
            <a:r>
              <a:rPr lang="en-US" dirty="0"/>
              <a:t>Square edges: A-B=2, B-C=2, C-D=2, D-A=2</a:t>
            </a:r>
          </a:p>
          <a:p>
            <a:r>
              <a:rPr lang="en-US" dirty="0"/>
              <a:t>Diagonal: A-C=1 (cheap shortcut)</a:t>
            </a:r>
          </a:p>
          <a:p>
            <a:r>
              <a:rPr lang="en-US" dirty="0"/>
              <a:t>Diagonal: B-D=100 (expensive!)</a:t>
            </a:r>
          </a:p>
          <a:p>
            <a:endParaRPr lang="en-US" dirty="0"/>
          </a:p>
          <a:p>
            <a:pPr marL="146050" indent="0">
              <a:buNone/>
            </a:pPr>
            <a:r>
              <a:rPr lang="en-US" b="1" dirty="0"/>
              <a:t>Results:</a:t>
            </a:r>
            <a:endParaRPr lang="en-US" dirty="0"/>
          </a:p>
          <a:p>
            <a:r>
              <a:rPr lang="en-US" b="1" dirty="0"/>
              <a:t>Greedy Tour:</a:t>
            </a:r>
            <a:r>
              <a:rPr lang="en-US" dirty="0"/>
              <a:t> A → C → B → D → A = 1 + 2 + 100 + 2 = </a:t>
            </a:r>
            <a:r>
              <a:rPr lang="en-US" b="1" dirty="0"/>
              <a:t>105</a:t>
            </a:r>
            <a:endParaRPr lang="en-US" dirty="0"/>
          </a:p>
          <a:p>
            <a:r>
              <a:rPr lang="en-US" b="1" dirty="0"/>
              <a:t>Optimal Tour:</a:t>
            </a:r>
            <a:r>
              <a:rPr lang="en-US" dirty="0"/>
              <a:t> A → B → C → D → A = 2 + 2 + 2 + 2 = </a:t>
            </a:r>
            <a:r>
              <a:rPr lang="en-US" b="1" dirty="0"/>
              <a:t>8</a:t>
            </a:r>
            <a:endParaRPr lang="en-US" dirty="0"/>
          </a:p>
          <a:p>
            <a:r>
              <a:rPr lang="en-US" b="1" dirty="0"/>
              <a:t>Ratio:</a:t>
            </a:r>
            <a:r>
              <a:rPr lang="en-US" dirty="0"/>
              <a:t> 106/8 = </a:t>
            </a:r>
            <a:r>
              <a:rPr lang="en-US" b="1" dirty="0"/>
              <a:t>13.25× worse!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3" name="Picture 12" descr="A screenshot of a game&#10;&#10;AI-generated content may be incorrect.">
            <a:extLst>
              <a:ext uri="{FF2B5EF4-FFF2-40B4-BE49-F238E27FC236}">
                <a16:creationId xmlns:a16="http://schemas.microsoft.com/office/drawing/2014/main" id="{BA2D78E4-20C9-401D-4AC2-9FF0DA7B6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129" y="2008681"/>
            <a:ext cx="3360274" cy="186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23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>
            <a:spLocks noGrp="1"/>
          </p:cNvSpPr>
          <p:nvPr>
            <p:ph type="title"/>
          </p:nvPr>
        </p:nvSpPr>
        <p:spPr>
          <a:xfrm>
            <a:off x="819150" y="445550"/>
            <a:ext cx="7505700" cy="6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Approximate Code Solution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25C86-9B3B-5A0B-CAE1-36D269AB1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2038" y="1643100"/>
            <a:ext cx="7505700" cy="2448000"/>
          </a:xfrm>
        </p:spPr>
        <p:txBody>
          <a:bodyPr>
            <a:normAutofit fontScale="92500" lnSpcReduction="10000"/>
          </a:bodyPr>
          <a:lstStyle/>
          <a:p>
            <a:pPr marL="146050" indent="0">
              <a:buNone/>
            </a:pPr>
            <a:r>
              <a:rPr lang="en-US" b="1" dirty="0"/>
              <a:t>Theoretical Bounds:</a:t>
            </a:r>
            <a:endParaRPr lang="en-US" dirty="0"/>
          </a:p>
          <a:p>
            <a:r>
              <a:rPr lang="en-US" b="1" dirty="0"/>
              <a:t>General Graphs:</a:t>
            </a:r>
            <a:r>
              <a:rPr lang="en-US" dirty="0"/>
              <a:t> Unbounded approximation ratio </a:t>
            </a:r>
          </a:p>
          <a:p>
            <a:pPr lvl="1"/>
            <a:r>
              <a:rPr lang="en-US" dirty="0"/>
              <a:t>No constant-factor guarantee</a:t>
            </a:r>
          </a:p>
          <a:p>
            <a:pPr lvl="1"/>
            <a:r>
              <a:rPr lang="en-US" dirty="0"/>
              <a:t>Can be arbitrarily bad (as seen in slide 12)</a:t>
            </a:r>
          </a:p>
          <a:p>
            <a:pPr marL="146050" indent="0">
              <a:buNone/>
            </a:pPr>
            <a:r>
              <a:rPr lang="en-US" b="1" dirty="0"/>
              <a:t>Empirical Performance:</a:t>
            </a:r>
            <a:endParaRPr lang="en-US" dirty="0"/>
          </a:p>
          <a:p>
            <a:r>
              <a:rPr lang="en-US" dirty="0"/>
              <a:t>Random instances: typically 1.2 - 1.5× optimal</a:t>
            </a:r>
          </a:p>
          <a:p>
            <a:r>
              <a:rPr lang="en-US" dirty="0"/>
              <a:t>Often 25-30% worse than optimal in practice</a:t>
            </a:r>
          </a:p>
          <a:p>
            <a:r>
              <a:rPr lang="en-US" dirty="0"/>
              <a:t>Much better than worst-case suggests</a:t>
            </a:r>
          </a:p>
          <a:p>
            <a:pPr marL="146050" indent="0">
              <a:buNone/>
            </a:pPr>
            <a:r>
              <a:rPr lang="en-US" b="1" dirty="0"/>
              <a:t>Trade-off:</a:t>
            </a:r>
            <a:endParaRPr lang="en-US" dirty="0"/>
          </a:p>
          <a:p>
            <a:r>
              <a:rPr lang="en-US" dirty="0"/>
              <a:t>Sacrifice optimality for O(n²) polynomial speed</a:t>
            </a:r>
          </a:p>
          <a:p>
            <a:r>
              <a:rPr lang="en-US" dirty="0"/>
              <a:t>Brute force: O(n!) - infeasible for n &gt; 20</a:t>
            </a:r>
          </a:p>
          <a:p>
            <a:r>
              <a:rPr lang="en-US" dirty="0"/>
              <a:t>Greedy: O(n²) - feasible for n = 100,000+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"/>
          <p:cNvSpPr txBox="1">
            <a:spLocks noGrp="1"/>
          </p:cNvSpPr>
          <p:nvPr>
            <p:ph type="title"/>
          </p:nvPr>
        </p:nvSpPr>
        <p:spPr>
          <a:xfrm>
            <a:off x="819150" y="300075"/>
            <a:ext cx="75057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Runtime (Wall-Clock) Performance Graph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0" name="Google Shape;210;p24"/>
          <p:cNvSpPr txBox="1"/>
          <p:nvPr/>
        </p:nvSpPr>
        <p:spPr>
          <a:xfrm>
            <a:off x="6361350" y="983075"/>
            <a:ext cx="2143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F50170-BBBF-E4CC-24F1-429F1D8E4B7D}"/>
              </a:ext>
            </a:extLst>
          </p:cNvPr>
          <p:cNvSpPr txBox="1"/>
          <p:nvPr/>
        </p:nvSpPr>
        <p:spPr>
          <a:xfrm>
            <a:off x="819150" y="3989258"/>
            <a:ext cx="52481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Observation:</a:t>
            </a:r>
            <a:r>
              <a:rPr lang="en-US" dirty="0"/>
              <a:t> Exact becomes expensive around n=15-20, while approximation scales easily</a:t>
            </a:r>
          </a:p>
          <a:p>
            <a:endParaRPr lang="en-US" dirty="0"/>
          </a:p>
        </p:txBody>
      </p:sp>
      <p:pic>
        <p:nvPicPr>
          <p:cNvPr id="6" name="Picture 5" descr="A graph with red and green lines&#10;&#10;AI-generated content may be incorrect.">
            <a:extLst>
              <a:ext uri="{FF2B5EF4-FFF2-40B4-BE49-F238E27FC236}">
                <a16:creationId xmlns:a16="http://schemas.microsoft.com/office/drawing/2014/main" id="{51825434-FB99-B8DA-A295-9BDD07E55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780" y="1074391"/>
            <a:ext cx="5426439" cy="276275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 txBox="1">
            <a:spLocks noGrp="1"/>
          </p:cNvSpPr>
          <p:nvPr>
            <p:ph type="title"/>
          </p:nvPr>
        </p:nvSpPr>
        <p:spPr>
          <a:xfrm>
            <a:off x="819150" y="31832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/>
              <a:t>Solution Quality</a:t>
            </a:r>
          </a:p>
        </p:txBody>
      </p:sp>
      <p:pic>
        <p:nvPicPr>
          <p:cNvPr id="3" name="Picture 2" descr="A screenshot of a game&#10;&#10;AI-generated content may be incorrect.">
            <a:extLst>
              <a:ext uri="{FF2B5EF4-FFF2-40B4-BE49-F238E27FC236}">
                <a16:creationId xmlns:a16="http://schemas.microsoft.com/office/drawing/2014/main" id="{9B9950C5-F70C-39C5-6F44-D90BFF5B3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452" y="1154326"/>
            <a:ext cx="5951095" cy="28348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18C944-AED8-B501-985A-C1DA244DAD4B}"/>
              </a:ext>
            </a:extLst>
          </p:cNvPr>
          <p:cNvSpPr txBox="1"/>
          <p:nvPr/>
        </p:nvSpPr>
        <p:spPr>
          <a:xfrm>
            <a:off x="652072" y="4094134"/>
            <a:ext cx="5111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Takeaways: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Greedy typically within 1.2-1.5× of optimal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Works Cited</a:t>
            </a:r>
            <a:endParaRPr dirty="0"/>
          </a:p>
        </p:txBody>
      </p:sp>
      <p:sp>
        <p:nvSpPr>
          <p:cNvPr id="224" name="Google Shape;224;p26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/>
              <a:t>Erickson, Jeff. </a:t>
            </a:r>
            <a:r>
              <a:rPr lang="en-US" i="1" dirty="0"/>
              <a:t>Algorithms</a:t>
            </a:r>
            <a:r>
              <a:rPr lang="en-US" dirty="0"/>
              <a:t>. [Chapter on NP-Hardness]</a:t>
            </a:r>
          </a:p>
          <a:p>
            <a:r>
              <a:rPr lang="en-US" dirty="0"/>
              <a:t>CS412 Course Materials: Approximation Algorithms Lecture Notes</a:t>
            </a:r>
          </a:p>
          <a:p>
            <a:r>
              <a:rPr lang="en-US" dirty="0"/>
              <a:t>Geeks for geeks </a:t>
            </a:r>
            <a:r>
              <a:rPr lang="en-US" dirty="0">
                <a:hlinkClick r:id="rId3"/>
              </a:rPr>
              <a:t>https://www.geeksforgeeks.org/dsa/traveling-salesman-problem-tsp-in-python/</a:t>
            </a:r>
            <a:endParaRPr lang="en-US" dirty="0"/>
          </a:p>
          <a:p>
            <a:r>
              <a:rPr lang="en-US" dirty="0"/>
              <a:t>Copilot and Claude to help create graphics</a:t>
            </a:r>
          </a:p>
          <a:p>
            <a:pPr marL="14605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1298</Words>
  <Application>Microsoft Office PowerPoint</Application>
  <PresentationFormat>On-screen Show (16:9)</PresentationFormat>
  <Paragraphs>187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Times New Roman</vt:lpstr>
      <vt:lpstr>Nunito</vt:lpstr>
      <vt:lpstr>Arial</vt:lpstr>
      <vt:lpstr>Lato Extended</vt:lpstr>
      <vt:lpstr>Shift</vt:lpstr>
      <vt:lpstr>Final project: Traveling Salesman Problem (TSP)</vt:lpstr>
      <vt:lpstr>Traveling Salesman Problem - Problem Description</vt:lpstr>
      <vt:lpstr>TSP - Decision/Optimization Problem</vt:lpstr>
      <vt:lpstr>TSP - Use and Importance Examples</vt:lpstr>
      <vt:lpstr>TSP is in NP - Certificate Verification</vt:lpstr>
      <vt:lpstr>NP Reduction</vt:lpstr>
      <vt:lpstr>Example Inputs/Outputs </vt:lpstr>
      <vt:lpstr>Exact Code Solution  </vt:lpstr>
      <vt:lpstr>Exact Code Solution - Pseudocode </vt:lpstr>
      <vt:lpstr>Approximation Strategy: Greedy Nearest-Neighbor</vt:lpstr>
      <vt:lpstr>Greedy Nearest-Neighbor Pseudocode</vt:lpstr>
      <vt:lpstr>Problem Instance Where Approximation ≠ Optimal</vt:lpstr>
      <vt:lpstr>Approximate Code Solution</vt:lpstr>
      <vt:lpstr>Runtime (Wall-Clock) Performance Graph </vt:lpstr>
      <vt:lpstr>Solution Quality</vt:lpstr>
      <vt:lpstr>Works Cited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Connor Donegan</dc:creator>
  <cp:lastModifiedBy>Connor Donegan</cp:lastModifiedBy>
  <cp:revision>11</cp:revision>
  <dcterms:modified xsi:type="dcterms:W3CDTF">2025-12-12T14:43:42Z</dcterms:modified>
</cp:coreProperties>
</file>